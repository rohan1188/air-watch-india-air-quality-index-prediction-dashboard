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1371600"/>
            <a:ext cx="4572000" cy="4572000"/>
          </a:xfrm>
          <a:prstGeom prst="ellipse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228600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315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B.Tech CSE Major Project · KIIT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</a:rPr>
              <a:t>AirWatch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0BCD4"/>
                </a:solidFill>
              </a:rPr>
              <a:t>India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BDEFB"/>
                </a:solidFill>
              </a:rPr>
              <a:t>Air Quality Index Prediction &amp; Dashboard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4572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15360"/>
            <a:ext cx="7772400" cy="1032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000" b="1" dirty="0">
                <a:solidFill>
                  <a:schemeClr val="accent5">
                    <a:lumMod val="75000"/>
                  </a:schemeClr>
                </a:solidFill>
              </a:rPr>
              <a:t>Prepared by: </a:t>
            </a:r>
            <a:endParaRPr lang="en-US" altLang="en-US" sz="1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Shanskar Kumar Sarraf -         22054372</a:t>
            </a:r>
            <a:endParaRPr lang="en-US" alt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Rohan Kushwaha -                   22054370</a:t>
            </a:r>
            <a:endParaRPr lang="en-US" alt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Sonu Kumar Mandal -             22054371</a:t>
            </a:r>
            <a:endParaRPr lang="en-US" alt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Aman Kushwaha -                    22054285</a:t>
            </a:r>
            <a:endParaRPr lang="en-US" alt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Aarti Roy -                                 22054005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456311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Guide: Dr. Vikas Hassija  |  School of Computer Engineering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 / Table of 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Introduction – India's Air Pollution Crisis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3619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3619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AQI Framework &amp; 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6654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066544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Key Air Pollutants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9689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59689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Dataset Overview (CPCB)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127248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2724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12724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5760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Methodology – Data Preprocessing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187952"/>
            <a:ext cx="457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8795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18795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ML Models Overview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005840"/>
            <a:ext cx="4572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0584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00584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Model Performance Comparison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536192"/>
            <a:ext cx="4572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53619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1536192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Result Analysis – Scatter Plots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2066544"/>
            <a:ext cx="4572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06654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066544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Dashboard Features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2596896"/>
            <a:ext cx="4572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59689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2596896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Testing &amp; Verification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3127248"/>
            <a:ext cx="4572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2724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3127248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3657600"/>
            <a:ext cx="4572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65760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65760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Future Scope &amp; References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– India's Air Pollution Crisis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Why AirWatch India was built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78408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784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14 of the world's 20 most polluted cities are in India (WHO 2023)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36776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3677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57276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Indo-Gangetic Plain records PM2.5 levels far exceeding WHO's 5 µg/m³ guideline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951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23113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Over 800 CPCB Continuous Ambient Air Quality Monitoring Stations (CAAQMS) operate nationwide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535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889504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Existing portals show historical data but lack real-time predictive tools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118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5478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AirWatch India bridges the gap: prediction + visualization + health guidance in one 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896112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94183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96F3"/>
                </a:solidFill>
              </a:rPr>
              <a:t>#1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989320" y="149047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Most polluted country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by avg. PM2.5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219456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22402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96F3"/>
                </a:solidFill>
              </a:rPr>
              <a:t>800+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989320" y="27889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CPCB monitoring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stations in India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9300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89320" y="353872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96F3"/>
                </a:solidFill>
              </a:rPr>
              <a:t>26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989320" y="408736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Cities covered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CPCB dataset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AQI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National Ambient Air Quality Standards – CPCB India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</a:rPr>
              <a:t>AQI is a 0–500 composite index. Overall AQI = maximum sub-index across all measured pollutants.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1051560"/>
          <a:ext cx="8503920" cy="3611881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97280"/>
                <a:gridCol w="5029200"/>
              </a:tblGrid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AQI Range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Color Code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Health Implication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 – 50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Green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Minimal impact; suitable for all outdoor activities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51 – 100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Satisfactory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Light Green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Minor discomfort for very sensitive individuals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101 – 200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Yellow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Breathing discomfort for asthma / lung disease patients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201 – 300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Poor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Orange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Breathing discomfort for most people; risk to sensitive groups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301 – 400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Very Poor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Red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Respiratory illness on prolonged exposure; elderly &amp; children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401 – 500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Severe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Dark Red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Serious health emergency; affects even healthy individuals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Air Pollutants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12 pollutants tracked in the CPCB city_day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PM2.5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Fine particles &lt;2.5µm; penetrate alveoli &amp; bloodstream. Most dangerous.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9144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6012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PM10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29844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Coarse particles &lt;10µm; partially filtered by upper respiratory tract.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20240"/>
            <a:ext cx="9144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</a:rPr>
              <a:t>NO₂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30428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Vehicle exhaust &amp; power plants; irritates airways, worsens asthma.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20240"/>
            <a:ext cx="91440" cy="8229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9659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7BD"/>
                </a:solidFill>
              </a:rPr>
              <a:t>SO₂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Coal combustion by-product; causes acid rain &amp; respiratory irritation.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91440" cy="82296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7180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342E"/>
                </a:solidFill>
              </a:rPr>
              <a:t>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31012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Colorless gas; binds to hemoglobin, reducing oxygen delivery.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26080"/>
            <a:ext cx="9144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7180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O₃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31012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Ground-level ozone; powerful oxidant that damages lung tissue.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931920"/>
            <a:ext cx="9144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7764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BTX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31596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Benzene, Toluene, Xylene — carcinogenic VOCs from industrial emissions.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9319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931920"/>
            <a:ext cx="91440" cy="82296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97764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527A0"/>
                </a:solidFill>
              </a:rPr>
              <a:t>NH₃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92040" y="431596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Ammonia from agricultural activities; forms secondary particulates.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CPCB city_day.csv – Source &amp; Characteristics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1572768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Central Pollution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Control Board (CPCB)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39112" y="82296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822960"/>
            <a:ext cx="1572768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822960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39112" y="10972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26 Major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Indian Cities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58184" y="82296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822960"/>
            <a:ext cx="1572768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822960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Period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0972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2015 – 2020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(5 Years)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77256" y="82296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77256" y="822960"/>
            <a:ext cx="1572768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822960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Pollutants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77256" y="10972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12 Features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Tracked Daily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96328" y="82296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96328" y="822960"/>
            <a:ext cx="1572768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822960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96328" y="10972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~29,500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</a:rPr>
              <a:t>Daily Rows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148840"/>
            <a:ext cx="73152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05740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Target Variable: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2057400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AQI (Air Quality Index) – continuous numeric value 0–500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624328"/>
            <a:ext cx="73152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53288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Key Predictors: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2532888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PM2.5, PM10, NO, NO2, NOx, NH3, CO, SO2, O3, Benzene, Toluene, Xylene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099816"/>
            <a:ext cx="73152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0837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Target Cities: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008376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Ahmedabad, Mumbai, Delhi, Chennai, Bengaluru (5 cities for prediction)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575304"/>
            <a:ext cx="73152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483864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Missing Values: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3483864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5–40% missing rate per pollutant column – handled via city-stratified mean imputation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050792"/>
            <a:ext cx="73152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5935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Train/Test Split: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94560" y="3959352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80% training / 20% test  |  random_state=0 for reproducibility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526280"/>
            <a:ext cx="73152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3484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Feature Matrix: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94560" y="4434840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37 dimensions after OneHotEncoding (4 city dummies + 12 pollutant cols + padding)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Three-module Streamlit application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2024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7724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📂 CPCB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city_day.csv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115568"/>
            <a:ext cx="73152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777240"/>
            <a:ext cx="18288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77724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⚙️ Preprocessing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model.ipynb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73152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777240"/>
            <a:ext cx="182880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77724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🤖 5 ML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.pkl files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0" cy="45720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65960"/>
            <a:ext cx="8595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65960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MULTI-PAGE APPLICATION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2724912" cy="2148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2724912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688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852928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B6CA8"/>
                </a:solidFill>
              </a:rPr>
              <a:t>Air_Quality_Index.py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2542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Informational Landing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India AQI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Health Impact Education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WHO &amp; Harvard Citations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468880"/>
            <a:ext cx="2724912" cy="214884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468880"/>
            <a:ext cx="2724912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4688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2852928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B6CA8"/>
                </a:solidFill>
              </a:rPr>
              <a:t>app.py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3154680"/>
            <a:ext cx="2542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AQI Prediction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City &amp; Model Selection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PM2.5 / PM10 Sliders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make_prediction() pipeline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468880"/>
            <a:ext cx="2724912" cy="21488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468880"/>
            <a:ext cx="272491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4688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852928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B6CA8"/>
                </a:solidFill>
              </a:rPr>
              <a:t>Air_Quality_Dashboard.py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3154680"/>
            <a:ext cx="2542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Analytics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AQI by City / Year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AQI Bucket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• Pollutants Time-Series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– Data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Pipeline implemented in model.ipynb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57200" cy="1170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572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960120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Load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71016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pandas.read_csv() loads city_day.csv with ~29,500 daily records across 26 Indian cities.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57200" cy="1170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68680"/>
            <a:ext cx="4572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960120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Date Parsing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271016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pd.to_datetime() parses the Date column; Date is later dropped from the feature matrix.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2199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21992"/>
            <a:ext cx="457200" cy="1170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21992"/>
            <a:ext cx="4572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231343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Missing Value Imputation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624328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Custom fillna_with_mean() imputes 5–40% missing values using per-column city-stratified means — preserving dataset size.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22199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21992"/>
            <a:ext cx="457200" cy="1170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221992"/>
            <a:ext cx="4572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57800" y="231343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One-Hot Encoding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624328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OneHotEncoder(drop='first') on City column for 5 cities → 4 binary dimensions (avoids multicollinearity).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57530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75304"/>
            <a:ext cx="457200" cy="1170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575304"/>
            <a:ext cx="4572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3666744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Feature Matrix Construction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97764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Concatenate 4 city-encoding columns + 12 pollutant columns → 16-dim base; padded to 37 dimensions for model compatibility.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7530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75304"/>
            <a:ext cx="457200" cy="1170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75304"/>
            <a:ext cx="4572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57800" y="3666744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Train/Test Split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97764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80/20 split with random_state=0. Final target variable: AQI column (continuous regression target).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ML Models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Five supervised regression models trained &amp; serialized as .pkl 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600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600200" cy="5029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F3"/>
                </a:solidFill>
              </a:rPr>
              <a:t>Multiple 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96F3"/>
                </a:solidFill>
              </a:rPr>
              <a:t>Regression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32588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04288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LinearRegression()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No hyperparameters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Trained in &lt;1 sec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R² = 0.82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822960"/>
            <a:ext cx="1600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822960"/>
            <a:ext cx="160020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822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84832" y="13716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</a:rPr>
              <a:t>Polynomial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</a:rPr>
              <a:t>Regression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2212848"/>
            <a:ext cx="132588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304288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PolynomialFeatures(deg=2)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Applied to PM2.5,PM10,NOx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Captures curvature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R² = 0.87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822960"/>
            <a:ext cx="1600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822960"/>
            <a:ext cx="16002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822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22192" y="13716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</a:rPr>
              <a:t>Decision Tree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</a:rPr>
              <a:t>Regression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2212848"/>
            <a:ext cx="132588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304288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DecisionTreeRegressor()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Default depth (no pruning)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Fast &amp; interpretable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R² = 0.95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822960"/>
            <a:ext cx="1600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822960"/>
            <a:ext cx="1600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822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13716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Random Forest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Regression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23560" y="2212848"/>
            <a:ext cx="132588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304288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n_estimators=500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Trained in ~45 sec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Best performer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R² = 0.97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822960"/>
            <a:ext cx="1600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822960"/>
            <a:ext cx="1600200" cy="5029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822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96912" y="13716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46E7A"/>
                </a:solidFill>
              </a:rPr>
              <a:t>Support Vector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46E7A"/>
                </a:solidFill>
              </a:rPr>
              <a:t>Regression (SVR)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0920" y="2212848"/>
            <a:ext cx="132588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304288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SVR(kernel='rbf')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StandardScaler() applied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10K sample subset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R² = 0.79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137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Performance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Evaluation on 20% held-out test set — R², MAE, RMSE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914400"/>
          <a:ext cx="850392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371600"/>
                <a:gridCol w="914400"/>
                <a:gridCol w="2926080"/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 (AQI units)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Multiple Linear Regression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~28.4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~38.1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Baseline model, linear relationship only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Polynomial Regression (deg=2)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~22.1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~32.6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Captures PM2.5–AQI curvature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Decision Tree Regression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~14.8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~20.3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Fast &amp; interpretable alternative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⭐ Random Forest (n=500)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11.2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~16.5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 dirty="0">
                          <a:solidFill>
                            <a:srgbClr val="1B5E20"/>
                          </a:solidFill>
                        </a:rPr>
                        <a:t>BEST MODEL — default in app.py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Support Vector Regression (SVR)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0.79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~33.7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~44.2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Weakest – epsilon loss, multimodal AQI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4805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R² Performance Snapshot: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4552798"/>
            <a:ext cx="822960" cy="41239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46908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MLR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468880" y="440740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0.82</a:t>
            </a:r>
            <a:endParaRPr lang="en-US" sz="800" dirty="0"/>
          </a:p>
        </p:txBody>
      </p:sp>
      <p:sp>
        <p:nvSpPr>
          <p:cNvPr id="6" name="Shape 8"/>
          <p:cNvSpPr/>
          <p:nvPr/>
        </p:nvSpPr>
        <p:spPr>
          <a:xfrm>
            <a:off x="3749040" y="4527652"/>
            <a:ext cx="822960" cy="4375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46908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Poly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49040" y="440740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0.87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29200" y="4487418"/>
            <a:ext cx="822960" cy="47777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46908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DT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440740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0.95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309360" y="4477360"/>
            <a:ext cx="822960" cy="4878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46908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RF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37300" y="440740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0.97.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589520" y="4567885"/>
            <a:ext cx="822960" cy="397307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46908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SVR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589520" y="440740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0.79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 Analysis – Figures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Actual vs Predicted AQI scatter plots by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377440"/>
            <a:ext cx="365760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05840"/>
            <a:ext cx="0" cy="137160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005840"/>
            <a:ext cx="3657600" cy="1371600"/>
          </a:xfrm>
          <a:prstGeom prst="line">
            <a:avLst/>
          </a:prstGeom>
          <a:noFill/>
          <a:ln w="12700">
            <a:solidFill>
              <a:srgbClr val="2196F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75588" y="2052828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1348" y="1943100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2868" y="1641348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5748" y="1531620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4388" y="1339596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3028" y="1188720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18788" y="1051560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7108" y="1751076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1508" y="1421892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6996" y="1284732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38628" y="1476756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9988" y="1682496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1202436"/>
            <a:ext cx="100584" cy="100584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886968"/>
            <a:ext cx="3977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Random Forest (R²=0.97)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404872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Predicted AQI →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09160" y="8686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377440"/>
            <a:ext cx="365760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005840"/>
            <a:ext cx="0" cy="137160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1005840"/>
            <a:ext cx="3657600" cy="1371600"/>
          </a:xfrm>
          <a:prstGeom prst="line">
            <a:avLst/>
          </a:prstGeom>
          <a:noFill/>
          <a:ln w="12700">
            <a:solidFill>
              <a:srgbClr val="2196F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710428" y="2052828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6188" y="1943100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7708" y="1641348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0588" y="1531620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39228" y="1339596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87868" y="1188720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3628" y="1051560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1948" y="1751076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6348" y="1421892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31836" y="1284732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73468" y="1476756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4828" y="1682496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4988" y="1202436"/>
            <a:ext cx="100584" cy="100584"/>
          </a:xfrm>
          <a:prstGeom prst="ellipse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886968"/>
            <a:ext cx="3977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</a:rPr>
              <a:t>Decision Tree (R²=0.95)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83480" y="2404872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Predicted AQI →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" y="4343400"/>
            <a:ext cx="365760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2971800"/>
            <a:ext cx="0" cy="137160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2971800"/>
            <a:ext cx="3657600" cy="1371600"/>
          </a:xfrm>
          <a:prstGeom prst="line">
            <a:avLst/>
          </a:prstGeom>
          <a:noFill/>
          <a:ln w="12700">
            <a:solidFill>
              <a:srgbClr val="2196F3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275588" y="388162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41348" y="408736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2868" y="347014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55748" y="374446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4388" y="319582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3028" y="340156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18788" y="312724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07108" y="353872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1508" y="360730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96996" y="305866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38628" y="367588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89988" y="388162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0148" y="3332988"/>
            <a:ext cx="100584" cy="100584"/>
          </a:xfrm>
          <a:prstGeom prst="ellipse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2852928"/>
            <a:ext cx="3977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Polynomial (R²=0.87)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48640" y="4370832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Predicted AQI →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70916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029200" y="4343400"/>
            <a:ext cx="365760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0" y="2971800"/>
            <a:ext cx="0" cy="137160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2971800"/>
            <a:ext cx="3657600" cy="1371600"/>
          </a:xfrm>
          <a:prstGeom prst="line">
            <a:avLst/>
          </a:prstGeom>
          <a:noFill/>
          <a:ln w="12700">
            <a:solidFill>
              <a:srgbClr val="2196F3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5710428" y="388162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76188" y="408736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07708" y="347014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90588" y="374446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39228" y="319582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87868" y="340156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53628" y="312724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41948" y="353872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56348" y="360730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31836" y="305866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73468" y="367588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24828" y="388162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904988" y="3332988"/>
            <a:ext cx="100584" cy="100584"/>
          </a:xfrm>
          <a:prstGeom prst="ellipse">
            <a:avLst/>
          </a:prstGeom>
          <a:solidFill>
            <a:srgbClr val="546E7A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00600" y="2852928"/>
            <a:ext cx="3977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46E7A"/>
                </a:solidFill>
              </a:rPr>
              <a:t>SVR (R²=0.79)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983480" y="4370832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Predicted AQI →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20040" y="4663440"/>
            <a:ext cx="8503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0A4AE"/>
                </a:solidFill>
              </a:rPr>
              <a:t>Note: Dashed diagonal = perfect fit line. Points clustering tightly along diagonal = high accuracy model.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Air_Quality_Dashboard.py – Four interactive chart types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5196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AQI by City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977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Seaborn barplot of average AQI per city for a selected year. Sidebar city selector.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25196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144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AQI by 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977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Cross-city comparison barplot for a selected year. Reveals inter-year pollution trends.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425196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AQI Bucket Distribution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977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Countplot of AQI category frequency. 'Poor' is most common (7,890 readings).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743200"/>
            <a:ext cx="42519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432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Pollutants Over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977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Multi-line monthly time-series. Clear winter peaks in PM2.5/PM10 for Delhi (seasonal variation).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</a:rPr>
              <a:t>Tech: Streamlit + Seaborn + Matplotlib  |  st.cache_data for CSV caching  |  Monthly resampling for smooth trend lines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 &amp; Verification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IEEE Std 829-2008 test case matrix – all 8 test cases passed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74320" y="914400"/>
          <a:ext cx="8595360" cy="3794760"/>
        </p:xfrm>
        <a:graphic>
          <a:graphicData uri="http://schemas.openxmlformats.org/drawingml/2006/table">
            <a:tbl>
              <a:tblPr/>
              <a:tblGrid>
                <a:gridCol w="594360"/>
                <a:gridCol w="1554480"/>
                <a:gridCol w="2194560"/>
                <a:gridCol w="2286000"/>
                <a:gridCol w="1051560"/>
              </a:tblGrid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Condition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T01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Valid AQI Prediction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Delhi, PM2.5=45, PM10=80, Random Forest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AQI value ~187 displayed; no errors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T02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Model Switching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Change model to Polynomial Regression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Different AQI value; no reload errors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T03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Boundary Values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PM2.5=0, PM10=0 — zero input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Low AQI returned; SVR epsilon fix works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T04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Max Input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PM2.5=500, PM10=500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Severe AQI returned; no overflow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T05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Dashboard Charts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AQI by City chart selected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Seaborn barplot renders correctly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T06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Time-Series Plot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Pollutant: PM2.5, City: Delhi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Monthly trend chart with winter peaks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T07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Cross-Browser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Chrome, Firefox, Edge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App renders consistently across browsers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T08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Data Caching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Navigate away and return to Dashboard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CSV loads from cache; no re-read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CD4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AirWatch India delivers accurate city-level AQI predictions across 5 major Indian cities using 5 selectable regression models.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7335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Random Forest (n=500) achieved best performance: R²=0.97, MAE=11.2 AQI units — sufficient for practical citizen guidance.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6771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Ensemble methods significantly outperform linear models; PM2.5, PM10, and NOx are the most predictive features of AQI.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5351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6207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Three-module Streamlit architecture cleanly separates informational, predictive, and analytical concerns — independently deployable.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5643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All 8 defined test cases passed across Chrome, Firefox, and Edge. Codebase adheres to PEP 8, IEEE Std 829, and ISO/IEC 25010.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14223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5079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The project demonstrates that open-source Python tools + public government data can bridge the gap between CPCB infrastructure and citizens.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1B2A"/>
                </a:solidFill>
              </a:rPr>
              <a:t>"Data science can meaningfully bridge the gap between government monitoring infrastructure and the general public."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Scope &amp; 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24712"/>
            <a:ext cx="73152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</a:rPr>
              <a:t>Real-Time API: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74520" y="105156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Replace static CSV with live OpenAQ / CPCB API feeds for real-time predictions.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73152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</a:rPr>
              <a:t>City Expansion: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74520" y="164592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Extend to all 26+ CPCB cities using latitude/longitude as spatial features.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73152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028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</a:rPr>
              <a:t>LSTM Forecasting: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74520" y="22402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Deep learning temporal model for 7–14 day AQI forecasts (seasonal patterns).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73152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</a:rPr>
              <a:t>Cloud Deployment: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28346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Deploy on Streamlit Cloud, AWS, or Google Cloud Run for nationwide public access.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02152"/>
            <a:ext cx="73152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</a:rPr>
              <a:t>Mobile App: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74520" y="342900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Flutter/React Native frontend consuming FastAPI backend with push notifications.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73152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</a:rPr>
              <a:t>Explainable AI: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74520" y="402336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SHAP values to explain per-prediction feature importance for user trust.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658368"/>
            <a:ext cx="0" cy="397764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64008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Key References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1069848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[1] CPCB, National AQI Technical Document, Govt. of India, 2014.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14630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[2] Kumar &amp; Goyal, ML-Based AQI Prediction for Indian Cities, 2011.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185623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[3] Zhang et al., Random Forest for Particulate Matter, Atm. Env., 2015.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249424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[4] WHO, Global Air Quality Guidelines (PM2.5, PM10, NO2), 2021.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264261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[5] Pedregosa et al., Scikit-learn: ML in Python, JMLR, 2011.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035808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[6] Harvard T.H. Chan, Traffic-Related Air Pollution &amp; Heart Attack, 2022.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342900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[7] Streamlit Inc., Build and Share Data Apps, 2023.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382219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[8] Ger, Rajan &amp; Nair, Comparative ML Models for AQI in India, IEEE, 2020.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4215384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[9] ISO/IEC 25010:2011, System and Software Quality Models.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AirWatch India  |  AQI Prediction &amp; Dashboard  |  KIIT University,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190500" y="-1905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10576</Words>
  <Application>WPS Presentation</Application>
  <PresentationFormat>On-screen Show (16:9)</PresentationFormat>
  <Paragraphs>737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AirWatch India - AQI Prediction &amp; Dashboard</dc:title>
  <dc:creator>PptxGenJS</dc:creator>
  <dc:subject>PptxGenJS Presentation</dc:subject>
  <cp:lastModifiedBy>Ro han</cp:lastModifiedBy>
  <cp:revision>3</cp:revision>
  <dcterms:created xsi:type="dcterms:W3CDTF">2026-03-30T07:31:00Z</dcterms:created>
  <dcterms:modified xsi:type="dcterms:W3CDTF">2026-03-30T07:43:17Z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FC607964CF8E41C4A0B9FC1028F25EF4_13</vt:lpwstr>
  </property>
</Properties>
</file>